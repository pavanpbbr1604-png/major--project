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  <p:sldMasterId id="2147483663" r:id="rId5"/>
    <p:sldMasterId id="214748366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y="5143500" cx="9144000"/>
  <p:notesSz cx="6858000" cy="9144000"/>
  <p:embeddedFontLst>
    <p:embeddedFont>
      <p:font typeface="Century Gothic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enturyGothic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CenturyGothic-regular.fntdata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CenturyGothic-italic.fntdata"/><Relationship Id="rId16" Type="http://schemas.openxmlformats.org/officeDocument/2006/relationships/slide" Target="slides/slide9.xml"/><Relationship Id="rId38" Type="http://schemas.openxmlformats.org/officeDocument/2006/relationships/font" Target="fonts/CenturyGothic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898042245_2_18:notes"/>
          <p:cNvSpPr txBox="1"/>
          <p:nvPr>
            <p:ph idx="1" type="body"/>
          </p:nvPr>
        </p:nvSpPr>
        <p:spPr>
          <a:xfrm>
            <a:off x="685480" y="4399998"/>
            <a:ext cx="5487041" cy="3601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3f898042245_2_18:notes"/>
          <p:cNvSpPr/>
          <p:nvPr>
            <p:ph idx="2" type="sldImg"/>
          </p:nvPr>
        </p:nvSpPr>
        <p:spPr>
          <a:xfrm>
            <a:off x="440437" y="1142265"/>
            <a:ext cx="5977127" cy="308720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898042245_2_54:notes"/>
          <p:cNvSpPr txBox="1"/>
          <p:nvPr>
            <p:ph idx="1" type="body"/>
          </p:nvPr>
        </p:nvSpPr>
        <p:spPr>
          <a:xfrm>
            <a:off x="685480" y="4399998"/>
            <a:ext cx="5487041" cy="3601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f898042245_2_54:notes"/>
          <p:cNvSpPr/>
          <p:nvPr>
            <p:ph idx="2" type="sldImg"/>
          </p:nvPr>
        </p:nvSpPr>
        <p:spPr>
          <a:xfrm>
            <a:off x="440437" y="1142265"/>
            <a:ext cx="5977127" cy="308720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898042245_2_60:notes"/>
          <p:cNvSpPr txBox="1"/>
          <p:nvPr>
            <p:ph idx="1" type="body"/>
          </p:nvPr>
        </p:nvSpPr>
        <p:spPr>
          <a:xfrm>
            <a:off x="685480" y="4399998"/>
            <a:ext cx="5487041" cy="3601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f898042245_2_60:notes"/>
          <p:cNvSpPr/>
          <p:nvPr>
            <p:ph idx="2" type="sldImg"/>
          </p:nvPr>
        </p:nvSpPr>
        <p:spPr>
          <a:xfrm>
            <a:off x="440437" y="1142265"/>
            <a:ext cx="5977127" cy="308720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898042245_2_66:notes"/>
          <p:cNvSpPr txBox="1"/>
          <p:nvPr>
            <p:ph idx="1" type="body"/>
          </p:nvPr>
        </p:nvSpPr>
        <p:spPr>
          <a:xfrm>
            <a:off x="685480" y="4399998"/>
            <a:ext cx="5487041" cy="3601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g3f898042245_2_66:notes"/>
          <p:cNvSpPr/>
          <p:nvPr>
            <p:ph idx="2" type="sldImg"/>
          </p:nvPr>
        </p:nvSpPr>
        <p:spPr>
          <a:xfrm>
            <a:off x="440437" y="1142265"/>
            <a:ext cx="5977127" cy="308720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898042245_2_72:notes"/>
          <p:cNvSpPr/>
          <p:nvPr>
            <p:ph idx="2" type="sldImg"/>
          </p:nvPr>
        </p:nvSpPr>
        <p:spPr>
          <a:xfrm>
            <a:off x="440436" y="1142264"/>
            <a:ext cx="5977278" cy="308734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27" name="Google Shape;127;g3f898042245_2_72:notes"/>
          <p:cNvSpPr txBox="1"/>
          <p:nvPr>
            <p:ph idx="1" type="body"/>
          </p:nvPr>
        </p:nvSpPr>
        <p:spPr>
          <a:xfrm>
            <a:off x="685480" y="4399998"/>
            <a:ext cx="5486965" cy="3601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f898042245_2_72:notes"/>
          <p:cNvSpPr txBox="1"/>
          <p:nvPr>
            <p:ph idx="12" type="sldNum"/>
          </p:nvPr>
        </p:nvSpPr>
        <p:spPr>
          <a:xfrm>
            <a:off x="3883850" y="8685330"/>
            <a:ext cx="2972447" cy="4586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898042245_2_79:notes"/>
          <p:cNvSpPr txBox="1"/>
          <p:nvPr>
            <p:ph idx="1" type="body"/>
          </p:nvPr>
        </p:nvSpPr>
        <p:spPr>
          <a:xfrm>
            <a:off x="685480" y="4399998"/>
            <a:ext cx="5487041" cy="3601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f898042245_2_79:notes"/>
          <p:cNvSpPr/>
          <p:nvPr>
            <p:ph idx="2" type="sldImg"/>
          </p:nvPr>
        </p:nvSpPr>
        <p:spPr>
          <a:xfrm>
            <a:off x="440437" y="1142265"/>
            <a:ext cx="5977127" cy="308720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898042245_2_85:notes"/>
          <p:cNvSpPr/>
          <p:nvPr>
            <p:ph idx="2" type="sldImg"/>
          </p:nvPr>
        </p:nvSpPr>
        <p:spPr>
          <a:xfrm>
            <a:off x="440437" y="1142265"/>
            <a:ext cx="5977127" cy="308720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42" name="Google Shape;142;g3f898042245_2_85:notes"/>
          <p:cNvSpPr txBox="1"/>
          <p:nvPr>
            <p:ph idx="1" type="body"/>
          </p:nvPr>
        </p:nvSpPr>
        <p:spPr>
          <a:xfrm>
            <a:off x="685480" y="4399998"/>
            <a:ext cx="5486965" cy="3601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f898042245_2_85:notes"/>
          <p:cNvSpPr txBox="1"/>
          <p:nvPr>
            <p:ph idx="12" type="sldNum"/>
          </p:nvPr>
        </p:nvSpPr>
        <p:spPr>
          <a:xfrm>
            <a:off x="3883850" y="8685330"/>
            <a:ext cx="2972447" cy="4586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898042245_2_92:notes"/>
          <p:cNvSpPr/>
          <p:nvPr>
            <p:ph idx="2" type="sldImg"/>
          </p:nvPr>
        </p:nvSpPr>
        <p:spPr>
          <a:xfrm>
            <a:off x="440437" y="1142265"/>
            <a:ext cx="5977127" cy="308720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50" name="Google Shape;150;g3f898042245_2_92:notes"/>
          <p:cNvSpPr txBox="1"/>
          <p:nvPr>
            <p:ph idx="1" type="body"/>
          </p:nvPr>
        </p:nvSpPr>
        <p:spPr>
          <a:xfrm>
            <a:off x="685480" y="4399998"/>
            <a:ext cx="5486965" cy="3601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f898042245_2_92:notes"/>
          <p:cNvSpPr txBox="1"/>
          <p:nvPr>
            <p:ph idx="12" type="sldNum"/>
          </p:nvPr>
        </p:nvSpPr>
        <p:spPr>
          <a:xfrm>
            <a:off x="3883850" y="8685330"/>
            <a:ext cx="2972447" cy="4586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898042245_2_99:notes"/>
          <p:cNvSpPr/>
          <p:nvPr>
            <p:ph idx="2" type="sldImg"/>
          </p:nvPr>
        </p:nvSpPr>
        <p:spPr>
          <a:xfrm>
            <a:off x="440437" y="1142265"/>
            <a:ext cx="5977127" cy="308720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59" name="Google Shape;159;g3f898042245_2_99:notes"/>
          <p:cNvSpPr txBox="1"/>
          <p:nvPr>
            <p:ph idx="1" type="body"/>
          </p:nvPr>
        </p:nvSpPr>
        <p:spPr>
          <a:xfrm>
            <a:off x="685480" y="4399998"/>
            <a:ext cx="5486965" cy="3601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3f898042245_2_99:notes"/>
          <p:cNvSpPr txBox="1"/>
          <p:nvPr>
            <p:ph idx="12" type="sldNum"/>
          </p:nvPr>
        </p:nvSpPr>
        <p:spPr>
          <a:xfrm>
            <a:off x="3883850" y="8685330"/>
            <a:ext cx="2972447" cy="4586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898042245_2_106:notes"/>
          <p:cNvSpPr/>
          <p:nvPr>
            <p:ph idx="2" type="sldImg"/>
          </p:nvPr>
        </p:nvSpPr>
        <p:spPr>
          <a:xfrm>
            <a:off x="440437" y="1142265"/>
            <a:ext cx="5977127" cy="308720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67" name="Google Shape;167;g3f898042245_2_106:notes"/>
          <p:cNvSpPr txBox="1"/>
          <p:nvPr>
            <p:ph idx="1" type="body"/>
          </p:nvPr>
        </p:nvSpPr>
        <p:spPr>
          <a:xfrm>
            <a:off x="685480" y="4399998"/>
            <a:ext cx="5486965" cy="3601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f898042245_2_106:notes"/>
          <p:cNvSpPr txBox="1"/>
          <p:nvPr>
            <p:ph idx="12" type="sldNum"/>
          </p:nvPr>
        </p:nvSpPr>
        <p:spPr>
          <a:xfrm>
            <a:off x="3883850" y="8685330"/>
            <a:ext cx="2972447" cy="4586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8b051b67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8b051b67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8b051b67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8b051b67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8b051b67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8b051b67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8b051b67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8b051b67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8b051b67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8b051b67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8b051b67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8b051b67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8b051b67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8b051b67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8b051b67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8b051b67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b051b67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8b051b67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8b051b67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8b051b67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8b051b67a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8b051b67a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8b051b67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8b051b67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898042245_2_128:notes"/>
          <p:cNvSpPr/>
          <p:nvPr>
            <p:ph idx="2" type="sldImg"/>
          </p:nvPr>
        </p:nvSpPr>
        <p:spPr>
          <a:xfrm>
            <a:off x="440437" y="1142265"/>
            <a:ext cx="5977127" cy="308720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65" name="Google Shape;265;g3f898042245_2_128:notes"/>
          <p:cNvSpPr txBox="1"/>
          <p:nvPr>
            <p:ph idx="1" type="body"/>
          </p:nvPr>
        </p:nvSpPr>
        <p:spPr>
          <a:xfrm>
            <a:off x="685480" y="4399998"/>
            <a:ext cx="5486965" cy="3601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f898042245_2_128:notes"/>
          <p:cNvSpPr txBox="1"/>
          <p:nvPr>
            <p:ph idx="12" type="sldNum"/>
          </p:nvPr>
        </p:nvSpPr>
        <p:spPr>
          <a:xfrm>
            <a:off x="3883850" y="8685330"/>
            <a:ext cx="2972447" cy="4586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8b051b67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8b051b67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898042245_2_135:notes"/>
          <p:cNvSpPr/>
          <p:nvPr>
            <p:ph idx="2" type="sldImg"/>
          </p:nvPr>
        </p:nvSpPr>
        <p:spPr>
          <a:xfrm>
            <a:off x="440437" y="1142265"/>
            <a:ext cx="5977127" cy="308720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90" name="Google Shape;290;g3f898042245_2_135:notes"/>
          <p:cNvSpPr txBox="1"/>
          <p:nvPr>
            <p:ph idx="1" type="body"/>
          </p:nvPr>
        </p:nvSpPr>
        <p:spPr>
          <a:xfrm>
            <a:off x="685480" y="4399998"/>
            <a:ext cx="5486965" cy="3601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g3f898042245_2_135:notes"/>
          <p:cNvSpPr txBox="1"/>
          <p:nvPr>
            <p:ph idx="12" type="sldNum"/>
          </p:nvPr>
        </p:nvSpPr>
        <p:spPr>
          <a:xfrm>
            <a:off x="3883850" y="8685330"/>
            <a:ext cx="2972447" cy="4586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898042245_2_142:notes"/>
          <p:cNvSpPr/>
          <p:nvPr>
            <p:ph idx="2" type="sldImg"/>
          </p:nvPr>
        </p:nvSpPr>
        <p:spPr>
          <a:xfrm>
            <a:off x="440437" y="1142265"/>
            <a:ext cx="5977127" cy="308720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98" name="Google Shape;298;g3f898042245_2_142:notes"/>
          <p:cNvSpPr txBox="1"/>
          <p:nvPr>
            <p:ph idx="1" type="body"/>
          </p:nvPr>
        </p:nvSpPr>
        <p:spPr>
          <a:xfrm>
            <a:off x="685480" y="4399998"/>
            <a:ext cx="5486965" cy="3601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g3f898042245_2_142:notes"/>
          <p:cNvSpPr txBox="1"/>
          <p:nvPr>
            <p:ph idx="12" type="sldNum"/>
          </p:nvPr>
        </p:nvSpPr>
        <p:spPr>
          <a:xfrm>
            <a:off x="3883850" y="8685330"/>
            <a:ext cx="2972447" cy="4586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8b051b67a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f8b051b67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8b051b67a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f8b051b67a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8b051b67a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f8b051b67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522313" y="1574800"/>
            <a:ext cx="8103667" cy="72797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100"/>
              <a:buFont typeface="Century Gothic"/>
              <a:buNone/>
              <a:defRPr sz="41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1325513" y="2517690"/>
            <a:ext cx="6619244" cy="6460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14"/>
          <p:cNvSpPr/>
          <p:nvPr/>
        </p:nvSpPr>
        <p:spPr>
          <a:xfrm>
            <a:off x="2181225" y="4751085"/>
            <a:ext cx="4572000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Department of Computer Science and Engineering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CMR Institute of Technology, Bangalore.</a:t>
            </a:r>
            <a:endParaRPr b="0" i="0" sz="11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2313" y="418757"/>
            <a:ext cx="1493044" cy="1021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7989" y="470969"/>
            <a:ext cx="705966" cy="72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1681618" y="729853"/>
            <a:ext cx="5756215" cy="510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866775" y="1952625"/>
            <a:ext cx="6571059" cy="25622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7754540" y="114300"/>
            <a:ext cx="628650" cy="35956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ctrTitle"/>
          </p:nvPr>
        </p:nvSpPr>
        <p:spPr>
          <a:xfrm>
            <a:off x="866216" y="1574800"/>
            <a:ext cx="6619244" cy="200823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100"/>
              <a:buFont typeface="Century Gothic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subTitle"/>
          </p:nvPr>
        </p:nvSpPr>
        <p:spPr>
          <a:xfrm>
            <a:off x="866216" y="3583035"/>
            <a:ext cx="6619244" cy="6460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cap="none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17"/>
          <p:cNvSpPr/>
          <p:nvPr/>
        </p:nvSpPr>
        <p:spPr>
          <a:xfrm>
            <a:off x="2181225" y="4751085"/>
            <a:ext cx="4572000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CMR Institute of Technology, Bangalore.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0" y="-1190"/>
            <a:ext cx="9144000" cy="5149453"/>
            <a:chOff x="0" y="-2373"/>
            <a:chExt cx="12192000" cy="6867027"/>
          </a:xfrm>
        </p:grpSpPr>
        <p:sp>
          <p:nvSpPr>
            <p:cNvPr id="52" name="Google Shape;52;p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9412"/>
                  </a:srgbClr>
                </a:gs>
                <a:gs pos="36000">
                  <a:srgbClr val="F7F7F7">
                    <a:alpha val="8235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6275"/>
                  </a:srgbClr>
                </a:gs>
                <a:gs pos="36000">
                  <a:srgbClr val="F7F7F7">
                    <a:alpha val="6275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157"/>
                  </a:srgbClr>
                </a:gs>
                <a:gs pos="36000">
                  <a:srgbClr val="F7F7F7">
                    <a:alpha val="5098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157"/>
                  </a:srgbClr>
                </a:gs>
                <a:gs pos="36000">
                  <a:srgbClr val="F7F7F7">
                    <a:alpha val="5098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8" name="Google Shape;58;p13"/>
          <p:cNvSpPr/>
          <p:nvPr/>
        </p:nvSpPr>
        <p:spPr>
          <a:xfrm>
            <a:off x="7828359" y="0"/>
            <a:ext cx="514350" cy="4286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r="5400000" dist="25400">
              <a:srgbClr val="000000">
                <a:alpha val="4313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1574040" y="729853"/>
            <a:ext cx="5863794" cy="531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Century Gothic"/>
              <a:buNone/>
              <a:defRPr b="0" i="0" sz="27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1161492" y="1694185"/>
            <a:ext cx="6571059" cy="25622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7305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7305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7305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7305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7305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7305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7760493" y="30956"/>
            <a:ext cx="6286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5"/>
          <p:cNvGrpSpPr/>
          <p:nvPr/>
        </p:nvGrpSpPr>
        <p:grpSpPr>
          <a:xfrm>
            <a:off x="2415" y="-92745"/>
            <a:ext cx="9144000" cy="5236245"/>
            <a:chOff x="0" y="-2373"/>
            <a:chExt cx="12192000" cy="6867027"/>
          </a:xfrm>
        </p:grpSpPr>
        <p:sp>
          <p:nvSpPr>
            <p:cNvPr id="70" name="Google Shape;70;p15"/>
            <p:cNvSpPr/>
            <p:nvPr/>
          </p:nvSpPr>
          <p:spPr>
            <a:xfrm>
              <a:off x="0" y="0"/>
              <a:ext cx="12192000" cy="6857999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9412"/>
                  </a:srgbClr>
                </a:gs>
                <a:gs pos="36000">
                  <a:srgbClr val="F7F7F7">
                    <a:alpha val="8235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6275"/>
                  </a:srgbClr>
                </a:gs>
                <a:gs pos="36000">
                  <a:srgbClr val="F7F7F7">
                    <a:alpha val="6275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5098"/>
                  </a:srgbClr>
                </a:gs>
                <a:gs pos="36000">
                  <a:srgbClr val="F7F7F7">
                    <a:alpha val="4314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157"/>
                  </a:srgbClr>
                </a:gs>
                <a:gs pos="36000">
                  <a:srgbClr val="F7F7F7">
                    <a:alpha val="5098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157"/>
                  </a:srgbClr>
                </a:gs>
                <a:gs pos="36000">
                  <a:srgbClr val="F7F7F7">
                    <a:alpha val="5098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 rot="-600000">
              <a:off x="8490951" y="179751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8039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459506" y="1866405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0" y="1587"/>
              <a:ext cx="12192000" cy="6856414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79" name="Google Shape;79;p15"/>
          <p:cNvSpPr txBox="1"/>
          <p:nvPr>
            <p:ph type="title"/>
          </p:nvPr>
        </p:nvSpPr>
        <p:spPr>
          <a:xfrm>
            <a:off x="1706165" y="729853"/>
            <a:ext cx="5731669" cy="527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Century Gothic"/>
              <a:buNone/>
              <a:defRPr b="0" i="0" sz="27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866775" y="1952625"/>
            <a:ext cx="6571059" cy="25622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7305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7305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7305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7305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7305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7305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1" name="Google Shape;81;p15"/>
          <p:cNvSpPr/>
          <p:nvPr/>
        </p:nvSpPr>
        <p:spPr>
          <a:xfrm>
            <a:off x="7828359" y="0"/>
            <a:ext cx="514350" cy="45481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r="5400000" dist="25400">
              <a:srgbClr val="000000">
                <a:alpha val="4313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7771209" y="19049"/>
            <a:ext cx="628650" cy="45124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37989" y="470969"/>
            <a:ext cx="705966" cy="7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/>
          <p:nvPr/>
        </p:nvSpPr>
        <p:spPr>
          <a:xfrm>
            <a:off x="2027634" y="4722505"/>
            <a:ext cx="4572000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Department of Computer Science and Engineering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CMR Institute of Technology, Bangalore.</a:t>
            </a:r>
            <a:endParaRPr b="0" i="0" sz="11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6113859" y="113110"/>
            <a:ext cx="1200150" cy="1199959"/>
          </a:xfrm>
          <a:prstGeom prst="ellipse">
            <a:avLst/>
          </a:prstGeom>
          <a:gradFill>
            <a:gsLst>
              <a:gs pos="0">
                <a:srgbClr val="F7F7F7">
                  <a:alpha val="12157"/>
                </a:srgbClr>
              </a:gs>
              <a:gs pos="36000">
                <a:srgbClr val="F7F7F7">
                  <a:alpha val="5098"/>
                </a:srgbClr>
              </a:gs>
              <a:gs pos="73000">
                <a:srgbClr val="F7F7F7">
                  <a:alpha val="0"/>
                </a:srgbClr>
              </a:gs>
              <a:gs pos="100000">
                <a:srgbClr val="F7F7F7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-10801350" y="-2481464"/>
            <a:ext cx="9144000" cy="5141495"/>
          </a:xfrm>
          <a:custGeom>
            <a:rect b="b" l="l" r="r" t="t"/>
            <a:pathLst>
              <a:path extrusionOk="0" h="8638" w="15356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450" y="354075"/>
            <a:ext cx="1109244" cy="75895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jpg"/><Relationship Id="rId4" Type="http://schemas.openxmlformats.org/officeDocument/2006/relationships/image" Target="../media/image21.jpg"/><Relationship Id="rId5" Type="http://schemas.openxmlformats.org/officeDocument/2006/relationships/image" Target="../media/image1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jpg"/><Relationship Id="rId4" Type="http://schemas.openxmlformats.org/officeDocument/2006/relationships/image" Target="../media/image1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ctrTitle"/>
          </p:nvPr>
        </p:nvSpPr>
        <p:spPr>
          <a:xfrm>
            <a:off x="1262378" y="1769950"/>
            <a:ext cx="66192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1" lang="en" sz="1900">
                <a:solidFill>
                  <a:schemeClr val="accent1"/>
                </a:solidFill>
              </a:rPr>
              <a:t>Multi-Perspective Crowd Density Analytics via Containment-Aware NMS and Spatial Consensus</a:t>
            </a:r>
            <a:endParaRPr/>
          </a:p>
        </p:txBody>
      </p:sp>
      <p:sp>
        <p:nvSpPr>
          <p:cNvPr id="101" name="Google Shape;101;p18"/>
          <p:cNvSpPr txBox="1"/>
          <p:nvPr>
            <p:ph idx="4294967295" type="subTitle"/>
          </p:nvPr>
        </p:nvSpPr>
        <p:spPr>
          <a:xfrm>
            <a:off x="1918125" y="2571750"/>
            <a:ext cx="4721700" cy="20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1016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</a:pPr>
            <a:r>
              <a:rPr b="0" i="0" lang="en" sz="21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</a:t>
            </a:r>
            <a:endParaRPr b="0" i="0" sz="14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016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</a:pPr>
            <a:r>
              <a:rPr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1CR23CS127</a:t>
            </a:r>
            <a:r>
              <a:rPr b="0" i="0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</a:t>
            </a:r>
            <a:r>
              <a:rPr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Pavan BR</a:t>
            </a:r>
            <a:endParaRPr b="0" i="0" sz="14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016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</a:pPr>
            <a:r>
              <a:rPr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1CR23CS060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  <a:r>
              <a:rPr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Bharath Sai</a:t>
            </a:r>
            <a:endParaRPr b="0" i="0" sz="14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01600" rtl="0" algn="ctr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</a:pPr>
            <a:r>
              <a:rPr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1CR23CS080 – Jeevan L</a:t>
            </a: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016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</a:pPr>
            <a:r>
              <a:rPr b="0" i="0" lang="en" sz="21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Guidance of</a:t>
            </a:r>
            <a:endParaRPr b="0" i="0" sz="14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016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</a:pPr>
            <a:r>
              <a:rPr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Prof. Bibi Annie Oommen</a:t>
            </a:r>
            <a:r>
              <a:rPr b="0" i="0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Assistan</a:t>
            </a:r>
            <a:r>
              <a:rPr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Professor Dept. of CSE</a:t>
            </a:r>
            <a:endParaRPr b="0" i="0" sz="14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016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2150675" y="416675"/>
            <a:ext cx="57309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BCSP786 – Major Project Phase - II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- 2</a:t>
            </a:r>
            <a:r>
              <a:rPr b="1" i="0" lang="en" sz="27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27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1" i="0" sz="27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6533156" y="3867188"/>
            <a:ext cx="225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31-08-2026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1681618" y="729853"/>
            <a:ext cx="5756215" cy="510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866775" y="1666425"/>
            <a:ext cx="7317900" cy="2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Problem Statement</a:t>
            </a:r>
            <a:endParaRPr/>
          </a:p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Objective</a:t>
            </a:r>
            <a:endParaRPr/>
          </a:p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Base Paper – Journal Paper Referencence</a:t>
            </a:r>
            <a:endParaRPr/>
          </a:p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Progress After Review 1</a:t>
            </a:r>
            <a:endParaRPr/>
          </a:p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Proposed Methodology </a:t>
            </a:r>
            <a:endParaRPr/>
          </a:p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Intermediate Results</a:t>
            </a:r>
            <a:endParaRPr/>
          </a:p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7754540" y="114300"/>
            <a:ext cx="628650" cy="35956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1681618" y="729853"/>
            <a:ext cx="5756215" cy="510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220625" y="1691950"/>
            <a:ext cx="8666100" cy="28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Monitoring large public venues requires placing multiple cameras at different viewing angles. Simply adding counts from each angle causes massive double-counting of people visible in shared views.</a:t>
            </a:r>
            <a:endParaRPr/>
          </a:p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Different camera angles create severe perspective changes and different scale variations per view. A person standing near Camera 1 appears large, but looks tiny and background-distant from Camera 2.</a:t>
            </a:r>
            <a:endParaRPr/>
          </a:p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Occlusion varies greatly depending on the viewing angle of each specific camera. A person clearly visible from Camera Angle A can be completely hidden behind someone else in Camera Angle B.</a:t>
            </a:r>
            <a:endParaRPr/>
          </a:p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S</a:t>
            </a:r>
            <a:r>
              <a:rPr lang="en"/>
              <a:t>licing high-resolution multi-angle camera feeds into processing tiles creates box fragmentation. Standard NMS fails across tile boundaries and splits single individuals into separate upper/lower body boxes.</a:t>
            </a:r>
            <a:endParaRPr/>
          </a:p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Different camera perspectives frequently report conflicting count numbers for the exact same physical area. Existing systems lack a spatial consensus mechanism to resolve count disagreement and quantify uncertainty.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7754540" y="114300"/>
            <a:ext cx="628650" cy="35956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1681618" y="729853"/>
            <a:ext cx="5756215" cy="510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233400" y="1857900"/>
            <a:ext cx="8832000" cy="21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Analyze multi-angle CCTV camera feeds using tiled inference across different viewing perspectives. This recovers small, background, and occluded individuals that are missed from a single camera angle.</a:t>
            </a:r>
            <a:endParaRPr/>
          </a:p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Implement custom containment-aware NMS post-processing to handle bounding box fragmentation. This eliminates redundant duplicate boxes and merges split upper and lower body fragments.</a:t>
            </a:r>
            <a:endParaRPr/>
          </a:p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Construct a downsampled binary grid occupancy mapping mechanism to evaluate spatial crowd density. This calculates exact non-overlapping occupied area without double-counting shared ground space.</a:t>
            </a:r>
            <a:endParaRPr/>
          </a:p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Develop a spatial consensus view fusion algorithm to combine multi-perspective camera counts. This eliminates double-counting of people visible in overlapping fields of view across camera angles.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7754540" y="114300"/>
            <a:ext cx="628650" cy="35956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1681618" y="729853"/>
            <a:ext cx="5756175" cy="5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Novelty of Proposed System</a:t>
            </a:r>
            <a:endParaRPr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263725" y="2109075"/>
            <a:ext cx="8592000" cy="25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Developed a custom containment promotion and vertical fragment merging post-processing algorithm. Unlike standard NMS, this rescues enclosed body fragments and merges split upper and lower body boxes.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Implemented a binary grid occupancy mapping mechanism paired with a dynamic reliability scoring engine. This calculates exact non-overlapping spatial ground coverage and automatically reports count uncertainty.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Designed a spatial consensus fusion model using field-of-view overlap discounting and view variance penalties. This combines multi-perspective CCTV camera feeds into a unified count without double-counting people.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7754540" y="114300"/>
            <a:ext cx="628650" cy="3595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1681618" y="729853"/>
            <a:ext cx="5756215" cy="510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</a:pPr>
            <a:r>
              <a:rPr lang="en"/>
              <a:t>Base Paper</a:t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293900" y="1976550"/>
            <a:ext cx="8606400" cy="25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Primary Base Paper: Y. Li, X. Zhang, and D. Chen, "CSRNet: Dilated Convolutional Neural Networks for Crowd Counting," IEEE CVPR/TPAMI 2022. Detection Backbone Paper: G. Jocher, A. Chaurasia, and J. Qiu, "Ultralytics YOLOv8," 2023.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Integrated Solution: CSRNet generates heatmaps without bounding boxes, while standard YOLO lacks crowd analytics and multi-camera fusion. Our system combines YOLO's person detection with spatial density theory, adding custom containment NMS and multi-camera consensus fusion.</a:t>
            </a:r>
            <a:endParaRPr/>
          </a:p>
          <a:p>
            <a:pPr indent="0" lvl="0" marL="10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23"/>
          <p:cNvSpPr txBox="1"/>
          <p:nvPr>
            <p:ph idx="12" type="sldNum"/>
          </p:nvPr>
        </p:nvSpPr>
        <p:spPr>
          <a:xfrm>
            <a:off x="7754540" y="114300"/>
            <a:ext cx="628650" cy="35956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1681618" y="729853"/>
            <a:ext cx="5756175" cy="5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Progress After Review 1</a:t>
            </a:r>
            <a:endParaRPr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176875" y="1330975"/>
            <a:ext cx="8765700" cy="3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Progress Made After Review 1:</a:t>
            </a:r>
            <a:endParaRPr/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Evaluated and tested our complete pipeline across diverse real-world public crowd images from railway platforms, assemblies, and concourses.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Implemented an optimized ONNX backend executing YOLOv8 person detection efficiently on standard CPU hardware.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Review 1 Comments Addressed:</a:t>
            </a:r>
            <a:endParaRPr/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b="1" lang="en"/>
              <a:t>Panel</a:t>
            </a:r>
            <a:r>
              <a:rPr b="1" lang="en"/>
              <a:t> Comment:</a:t>
            </a:r>
            <a:r>
              <a:rPr lang="en"/>
              <a:t> Multiple people standing close together were being detected as a single combined box.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b="1" lang="en"/>
              <a:t>Solution:</a:t>
            </a:r>
            <a:r>
              <a:rPr lang="en"/>
              <a:t> Developed custom Containment-Aware NMS and IoM suppression to separate overlapping individuals into distinct boxes.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b="1" lang="en"/>
              <a:t>Panel</a:t>
            </a:r>
            <a:r>
              <a:rPr b="1" lang="en"/>
              <a:t> Comment</a:t>
            </a:r>
            <a:r>
              <a:rPr lang="en"/>
              <a:t>: Low efficiency in detecting far-away individuals who appear very tiny in the background.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b="1" lang="en"/>
              <a:t>Solution:</a:t>
            </a:r>
            <a:r>
              <a:rPr lang="en"/>
              <a:t> Implemented $640 \times 640$ tiled sliding window inference to magnify and recover small background targets.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24"/>
          <p:cNvSpPr txBox="1"/>
          <p:nvPr>
            <p:ph idx="12" type="sldNum"/>
          </p:nvPr>
        </p:nvSpPr>
        <p:spPr>
          <a:xfrm>
            <a:off x="7754540" y="114300"/>
            <a:ext cx="628650" cy="3595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1693950" y="473850"/>
            <a:ext cx="5756100" cy="9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System Architecture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866775" y="1952625"/>
            <a:ext cx="6571125" cy="25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lang="en"/>
              <a:t>Block Diagram </a:t>
            </a:r>
            <a:endParaRPr/>
          </a:p>
        </p:txBody>
      </p:sp>
      <p:sp>
        <p:nvSpPr>
          <p:cNvPr id="155" name="Google Shape;155;p25"/>
          <p:cNvSpPr txBox="1"/>
          <p:nvPr>
            <p:ph idx="12" type="sldNum"/>
          </p:nvPr>
        </p:nvSpPr>
        <p:spPr>
          <a:xfrm>
            <a:off x="7754540" y="114300"/>
            <a:ext cx="628650" cy="3595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6" name="Google Shape;156;p25"/>
          <p:cNvPicPr preferRelativeResize="0"/>
          <p:nvPr/>
        </p:nvPicPr>
        <p:blipFill rotWithShape="1">
          <a:blip r:embed="rId3">
            <a:alphaModFix/>
          </a:blip>
          <a:srcRect b="15280" l="0" r="0" t="3919"/>
          <a:stretch/>
        </p:blipFill>
        <p:spPr>
          <a:xfrm>
            <a:off x="363025" y="1762813"/>
            <a:ext cx="8417948" cy="294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1681625" y="558800"/>
            <a:ext cx="57561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Dataset Description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521275" y="1836725"/>
            <a:ext cx="8076900" cy="21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34950" lvl="0" marL="342900" rtl="0" algn="l"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Sourced from </a:t>
            </a:r>
            <a:r>
              <a:rPr b="1" lang="en"/>
              <a:t>PETS 2009</a:t>
            </a:r>
            <a:r>
              <a:rPr lang="en"/>
              <a:t> Multi-Camera Benchmark Dataset and </a:t>
            </a:r>
            <a:r>
              <a:rPr b="1" lang="en"/>
              <a:t>Kaggle Human Crowd</a:t>
            </a:r>
            <a:r>
              <a:rPr lang="en"/>
              <a:t> Dataset. Public multi-angle surveillance camera feeds and real-world high-density crowd images.</a:t>
            </a:r>
            <a:endParaRPr/>
          </a:p>
          <a:p>
            <a:pPr indent="-234950" lvl="0" marL="342900" rtl="0" algn="l"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Dataset Description: High-resolution image frames captured across diverse public venues and infrastructure environments. Records cover a wide spectrum of crowd density conditions from moderate gatherings to heavy crowd surges.</a:t>
            </a:r>
            <a:endParaRPr/>
          </a:p>
          <a:p>
            <a:pPr indent="-234950" lvl="0" marL="342900" rtl="0" algn="l"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Key Features &amp; Significance: Multi-angle camera views and high-resolution occluded crowd scenes. Multi-angle feeds validate multi-camera consensus fusion, while occluded scenes validate tiled NMS detection.</a:t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-190500" lvl="0" marL="2540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26"/>
          <p:cNvSpPr txBox="1"/>
          <p:nvPr>
            <p:ph idx="12" type="sldNum"/>
          </p:nvPr>
        </p:nvSpPr>
        <p:spPr>
          <a:xfrm>
            <a:off x="7754540" y="114300"/>
            <a:ext cx="628650" cy="3595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1693950" y="473849"/>
            <a:ext cx="5756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Proposed Methodology</a:t>
            </a:r>
            <a:br>
              <a:rPr lang="en"/>
            </a:br>
            <a:r>
              <a:rPr lang="en" sz="1200"/>
              <a:t>Modules / Block Diagram of Proposed System</a:t>
            </a:r>
            <a:endParaRPr sz="1200"/>
          </a:p>
        </p:txBody>
      </p:sp>
      <p:sp>
        <p:nvSpPr>
          <p:cNvPr id="171" name="Google Shape;171;p27"/>
          <p:cNvSpPr txBox="1"/>
          <p:nvPr>
            <p:ph idx="12" type="sldNum"/>
          </p:nvPr>
        </p:nvSpPr>
        <p:spPr>
          <a:xfrm>
            <a:off x="7754540" y="114300"/>
            <a:ext cx="628650" cy="3595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27"/>
          <p:cNvSpPr/>
          <p:nvPr/>
        </p:nvSpPr>
        <p:spPr>
          <a:xfrm>
            <a:off x="726750" y="2978600"/>
            <a:ext cx="1197000" cy="9996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859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</a:rPr>
              <a:t>Data Collection &amp; Spatial Preprocessing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7"/>
          <p:cNvSpPr/>
          <p:nvPr/>
        </p:nvSpPr>
        <p:spPr>
          <a:xfrm>
            <a:off x="2970325" y="2978600"/>
            <a:ext cx="1197000" cy="9996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859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</a:rPr>
              <a:t>Tiled Feature Detection Engine (YOLOv8)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4959325" y="2978525"/>
            <a:ext cx="1197000" cy="9996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859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</a:rPr>
              <a:t>Containment Promotion &amp; Fragment-Aware NMS Filter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6998425" y="2978600"/>
            <a:ext cx="1197000" cy="9996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859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chemeClr val="lt1"/>
                </a:solidFill>
              </a:rPr>
              <a:t>Spatial Density, UQ &amp; Multi-Camera Consensus Fusion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27"/>
          <p:cNvCxnSpPr>
            <a:stCxn id="172" idx="3"/>
            <a:endCxn id="173" idx="1"/>
          </p:cNvCxnSpPr>
          <p:nvPr/>
        </p:nvCxnSpPr>
        <p:spPr>
          <a:xfrm>
            <a:off x="1923750" y="3478400"/>
            <a:ext cx="1046700" cy="0"/>
          </a:xfrm>
          <a:prstGeom prst="straightConnector1">
            <a:avLst/>
          </a:prstGeom>
          <a:noFill/>
          <a:ln cap="flat" cmpd="sng" w="76200">
            <a:solidFill>
              <a:srgbClr val="AAD22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7" name="Google Shape;177;p27"/>
          <p:cNvCxnSpPr>
            <a:stCxn id="173" idx="3"/>
          </p:cNvCxnSpPr>
          <p:nvPr/>
        </p:nvCxnSpPr>
        <p:spPr>
          <a:xfrm flipH="1" rot="10800000">
            <a:off x="4167325" y="3470900"/>
            <a:ext cx="792000" cy="7500"/>
          </a:xfrm>
          <a:prstGeom prst="straightConnector1">
            <a:avLst/>
          </a:prstGeom>
          <a:noFill/>
          <a:ln cap="flat" cmpd="sng" w="76200">
            <a:solidFill>
              <a:srgbClr val="AAD22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8" name="Google Shape;178;p27"/>
          <p:cNvCxnSpPr/>
          <p:nvPr/>
        </p:nvCxnSpPr>
        <p:spPr>
          <a:xfrm flipH="1" rot="10800000">
            <a:off x="6156337" y="3474795"/>
            <a:ext cx="842100" cy="7200"/>
          </a:xfrm>
          <a:prstGeom prst="straightConnector1">
            <a:avLst/>
          </a:prstGeom>
          <a:noFill/>
          <a:ln cap="flat" cmpd="sng" w="76200">
            <a:solidFill>
              <a:srgbClr val="AAD22D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1681618" y="729853"/>
            <a:ext cx="5756100" cy="51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1/Block 1:</a:t>
            </a:r>
            <a:endParaRPr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866775" y="1952625"/>
            <a:ext cx="6571200" cy="25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550" y="1723050"/>
            <a:ext cx="8398076" cy="33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1681618" y="729853"/>
            <a:ext cx="5756100" cy="51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cont..</a:t>
            </a:r>
            <a:endParaRPr/>
          </a:p>
        </p:txBody>
      </p:sp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866775" y="1952625"/>
            <a:ext cx="6571200" cy="25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275" y="1631475"/>
            <a:ext cx="8461875" cy="345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1681618" y="729853"/>
            <a:ext cx="5756100" cy="51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cont..</a:t>
            </a:r>
            <a:endParaRPr/>
          </a:p>
        </p:txBody>
      </p:sp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866775" y="1952625"/>
            <a:ext cx="6571200" cy="25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275" y="1653675"/>
            <a:ext cx="8449124" cy="343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title"/>
          </p:nvPr>
        </p:nvSpPr>
        <p:spPr>
          <a:xfrm>
            <a:off x="1681618" y="729853"/>
            <a:ext cx="5756100" cy="51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2/Block 2:</a:t>
            </a:r>
            <a:endParaRPr/>
          </a:p>
        </p:txBody>
      </p:sp>
      <p:sp>
        <p:nvSpPr>
          <p:cNvPr id="205" name="Google Shape;205;p31"/>
          <p:cNvSpPr txBox="1"/>
          <p:nvPr>
            <p:ph idx="1" type="body"/>
          </p:nvPr>
        </p:nvSpPr>
        <p:spPr>
          <a:xfrm>
            <a:off x="866775" y="1952625"/>
            <a:ext cx="6571200" cy="25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275" y="1679200"/>
            <a:ext cx="8461874" cy="342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type="title"/>
          </p:nvPr>
        </p:nvSpPr>
        <p:spPr>
          <a:xfrm>
            <a:off x="1681618" y="729853"/>
            <a:ext cx="5756100" cy="51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conti..</a:t>
            </a:r>
            <a:endParaRPr/>
          </a:p>
        </p:txBody>
      </p:sp>
      <p:sp>
        <p:nvSpPr>
          <p:cNvPr id="212" name="Google Shape;212;p32"/>
          <p:cNvSpPr txBox="1"/>
          <p:nvPr>
            <p:ph idx="1" type="body"/>
          </p:nvPr>
        </p:nvSpPr>
        <p:spPr>
          <a:xfrm>
            <a:off x="866775" y="1952625"/>
            <a:ext cx="6571200" cy="25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25" y="1360125"/>
            <a:ext cx="8372551" cy="378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1681618" y="729853"/>
            <a:ext cx="5756100" cy="51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conti..</a:t>
            </a:r>
            <a:endParaRPr/>
          </a:p>
        </p:txBody>
      </p:sp>
      <p:sp>
        <p:nvSpPr>
          <p:cNvPr id="219" name="Google Shape;219;p33"/>
          <p:cNvSpPr txBox="1"/>
          <p:nvPr>
            <p:ph idx="1" type="body"/>
          </p:nvPr>
        </p:nvSpPr>
        <p:spPr>
          <a:xfrm>
            <a:off x="866775" y="1952625"/>
            <a:ext cx="6571200" cy="25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400" y="1457624"/>
            <a:ext cx="8017200" cy="330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type="title"/>
          </p:nvPr>
        </p:nvSpPr>
        <p:spPr>
          <a:xfrm>
            <a:off x="1681618" y="729853"/>
            <a:ext cx="5756100" cy="51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3/Block 3:</a:t>
            </a:r>
            <a:endParaRPr/>
          </a:p>
        </p:txBody>
      </p:sp>
      <p:sp>
        <p:nvSpPr>
          <p:cNvPr id="226" name="Google Shape;226;p34"/>
          <p:cNvSpPr txBox="1"/>
          <p:nvPr>
            <p:ph idx="1" type="body"/>
          </p:nvPr>
        </p:nvSpPr>
        <p:spPr>
          <a:xfrm>
            <a:off x="866775" y="1952625"/>
            <a:ext cx="6571200" cy="25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275" y="1347350"/>
            <a:ext cx="8461876" cy="37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type="title"/>
          </p:nvPr>
        </p:nvSpPr>
        <p:spPr>
          <a:xfrm>
            <a:off x="1681618" y="729853"/>
            <a:ext cx="5756100" cy="51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cont..</a:t>
            </a:r>
            <a:endParaRPr/>
          </a:p>
        </p:txBody>
      </p:sp>
      <p:sp>
        <p:nvSpPr>
          <p:cNvPr id="233" name="Google Shape;233;p35"/>
          <p:cNvSpPr txBox="1"/>
          <p:nvPr>
            <p:ph idx="1" type="body"/>
          </p:nvPr>
        </p:nvSpPr>
        <p:spPr>
          <a:xfrm>
            <a:off x="866775" y="1952625"/>
            <a:ext cx="6571200" cy="25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025" y="1240150"/>
            <a:ext cx="8423600" cy="390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>
            <p:ph type="title"/>
          </p:nvPr>
        </p:nvSpPr>
        <p:spPr>
          <a:xfrm>
            <a:off x="1681618" y="729853"/>
            <a:ext cx="5756100" cy="51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cont..</a:t>
            </a:r>
            <a:endParaRPr/>
          </a:p>
        </p:txBody>
      </p:sp>
      <p:sp>
        <p:nvSpPr>
          <p:cNvPr id="240" name="Google Shape;240;p36"/>
          <p:cNvSpPr txBox="1"/>
          <p:nvPr>
            <p:ph idx="1" type="body"/>
          </p:nvPr>
        </p:nvSpPr>
        <p:spPr>
          <a:xfrm>
            <a:off x="866775" y="1952625"/>
            <a:ext cx="6571200" cy="25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1" name="Google Shape;24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825" y="1334600"/>
            <a:ext cx="8436350" cy="373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>
            <p:ph type="title"/>
          </p:nvPr>
        </p:nvSpPr>
        <p:spPr>
          <a:xfrm>
            <a:off x="1681618" y="729853"/>
            <a:ext cx="5756100" cy="51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4/Block 4:</a:t>
            </a:r>
            <a:endParaRPr/>
          </a:p>
        </p:txBody>
      </p:sp>
      <p:sp>
        <p:nvSpPr>
          <p:cNvPr id="247" name="Google Shape;247;p37"/>
          <p:cNvSpPr txBox="1"/>
          <p:nvPr>
            <p:ph idx="1" type="body"/>
          </p:nvPr>
        </p:nvSpPr>
        <p:spPr>
          <a:xfrm>
            <a:off x="866775" y="1952625"/>
            <a:ext cx="6571200" cy="25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275" y="1347350"/>
            <a:ext cx="8423575" cy="371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1681618" y="729853"/>
            <a:ext cx="5756100" cy="51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cont..</a:t>
            </a:r>
            <a:endParaRPr/>
          </a:p>
        </p:txBody>
      </p:sp>
      <p:sp>
        <p:nvSpPr>
          <p:cNvPr id="254" name="Google Shape;254;p38"/>
          <p:cNvSpPr txBox="1"/>
          <p:nvPr>
            <p:ph idx="1" type="body"/>
          </p:nvPr>
        </p:nvSpPr>
        <p:spPr>
          <a:xfrm>
            <a:off x="866775" y="1952625"/>
            <a:ext cx="6571200" cy="25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800" y="1309075"/>
            <a:ext cx="8436350" cy="383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9"/>
          <p:cNvSpPr txBox="1"/>
          <p:nvPr>
            <p:ph type="title"/>
          </p:nvPr>
        </p:nvSpPr>
        <p:spPr>
          <a:xfrm>
            <a:off x="1681618" y="729853"/>
            <a:ext cx="5756100" cy="51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conti…</a:t>
            </a:r>
            <a:endParaRPr/>
          </a:p>
        </p:txBody>
      </p:sp>
      <p:sp>
        <p:nvSpPr>
          <p:cNvPr id="261" name="Google Shape;261;p39"/>
          <p:cNvSpPr txBox="1"/>
          <p:nvPr>
            <p:ph idx="1" type="body"/>
          </p:nvPr>
        </p:nvSpPr>
        <p:spPr>
          <a:xfrm>
            <a:off x="866775" y="1952625"/>
            <a:ext cx="6571200" cy="256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500" y="1347350"/>
            <a:ext cx="8503701" cy="373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0"/>
          <p:cNvSpPr txBox="1"/>
          <p:nvPr>
            <p:ph type="title"/>
          </p:nvPr>
        </p:nvSpPr>
        <p:spPr>
          <a:xfrm>
            <a:off x="1681618" y="729853"/>
            <a:ext cx="5756175" cy="5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Intermediate Output Screenshots </a:t>
            </a:r>
            <a:endParaRPr/>
          </a:p>
        </p:txBody>
      </p:sp>
      <p:sp>
        <p:nvSpPr>
          <p:cNvPr id="269" name="Google Shape;269;p40"/>
          <p:cNvSpPr txBox="1"/>
          <p:nvPr>
            <p:ph idx="1" type="body"/>
          </p:nvPr>
        </p:nvSpPr>
        <p:spPr>
          <a:xfrm>
            <a:off x="821825" y="3994700"/>
            <a:ext cx="8598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b="1" lang="en"/>
              <a:t>1.input</a:t>
            </a:r>
            <a:endParaRPr b="1"/>
          </a:p>
        </p:txBody>
      </p:sp>
      <p:sp>
        <p:nvSpPr>
          <p:cNvPr id="270" name="Google Shape;270;p40"/>
          <p:cNvSpPr txBox="1"/>
          <p:nvPr>
            <p:ph idx="12" type="sldNum"/>
          </p:nvPr>
        </p:nvSpPr>
        <p:spPr>
          <a:xfrm>
            <a:off x="7754540" y="114300"/>
            <a:ext cx="628650" cy="3595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1" name="Google Shape;2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09925"/>
            <a:ext cx="2370102" cy="2100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40"/>
          <p:cNvCxnSpPr>
            <a:stCxn id="271" idx="3"/>
          </p:cNvCxnSpPr>
          <p:nvPr/>
        </p:nvCxnSpPr>
        <p:spPr>
          <a:xfrm>
            <a:off x="2370102" y="2760275"/>
            <a:ext cx="426300" cy="1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40"/>
          <p:cNvCxnSpPr/>
          <p:nvPr/>
        </p:nvCxnSpPr>
        <p:spPr>
          <a:xfrm>
            <a:off x="2225400" y="2758325"/>
            <a:ext cx="4722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74" name="Google Shape;274;p40"/>
          <p:cNvPicPr preferRelativeResize="0"/>
          <p:nvPr/>
        </p:nvPicPr>
        <p:blipFill rotWithShape="1">
          <a:blip r:embed="rId4">
            <a:alphaModFix/>
          </a:blip>
          <a:srcRect b="0" l="0" r="11723" t="0"/>
          <a:stretch/>
        </p:blipFill>
        <p:spPr>
          <a:xfrm>
            <a:off x="2749625" y="1709925"/>
            <a:ext cx="2370099" cy="202044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0"/>
          <p:cNvSpPr txBox="1"/>
          <p:nvPr>
            <p:ph idx="1" type="body"/>
          </p:nvPr>
        </p:nvSpPr>
        <p:spPr>
          <a:xfrm>
            <a:off x="3092875" y="3994700"/>
            <a:ext cx="1556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b="1" lang="en"/>
              <a:t>2</a:t>
            </a:r>
            <a:r>
              <a:rPr b="1" lang="en"/>
              <a:t>.preprocessed</a:t>
            </a:r>
            <a:endParaRPr b="1"/>
          </a:p>
        </p:txBody>
      </p:sp>
      <p:cxnSp>
        <p:nvCxnSpPr>
          <p:cNvPr id="276" name="Google Shape;276;p40"/>
          <p:cNvCxnSpPr/>
          <p:nvPr/>
        </p:nvCxnSpPr>
        <p:spPr>
          <a:xfrm>
            <a:off x="5070475" y="3172475"/>
            <a:ext cx="62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77" name="Google Shape;277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5975" y="1709925"/>
            <a:ext cx="3305626" cy="202044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0"/>
          <p:cNvSpPr txBox="1"/>
          <p:nvPr>
            <p:ph idx="1" type="body"/>
          </p:nvPr>
        </p:nvSpPr>
        <p:spPr>
          <a:xfrm>
            <a:off x="6129925" y="3994700"/>
            <a:ext cx="2169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b="1" lang="en"/>
              <a:t>3.before </a:t>
            </a:r>
            <a:r>
              <a:rPr b="1" lang="en"/>
              <a:t>custom</a:t>
            </a:r>
            <a:r>
              <a:rPr b="1" lang="en"/>
              <a:t> NMS</a:t>
            </a:r>
            <a:endParaRPr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1"/>
          <p:cNvSpPr txBox="1"/>
          <p:nvPr>
            <p:ph type="title"/>
          </p:nvPr>
        </p:nvSpPr>
        <p:spPr>
          <a:xfrm>
            <a:off x="1681618" y="729853"/>
            <a:ext cx="5756100" cy="51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conti..</a:t>
            </a:r>
            <a:endParaRPr/>
          </a:p>
        </p:txBody>
      </p:sp>
      <p:sp>
        <p:nvSpPr>
          <p:cNvPr id="284" name="Google Shape;284;p41"/>
          <p:cNvSpPr txBox="1"/>
          <p:nvPr>
            <p:ph idx="1" type="body"/>
          </p:nvPr>
        </p:nvSpPr>
        <p:spPr>
          <a:xfrm>
            <a:off x="5972000" y="4272650"/>
            <a:ext cx="2046900" cy="319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5. Binary occupation</a:t>
            </a:r>
            <a:endParaRPr/>
          </a:p>
        </p:txBody>
      </p:sp>
      <p:pic>
        <p:nvPicPr>
          <p:cNvPr id="285" name="Google Shape;28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6650"/>
            <a:ext cx="3843437" cy="256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66650"/>
            <a:ext cx="4557266" cy="2562299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1"/>
          <p:cNvSpPr txBox="1"/>
          <p:nvPr>
            <p:ph idx="1" type="body"/>
          </p:nvPr>
        </p:nvSpPr>
        <p:spPr>
          <a:xfrm>
            <a:off x="769450" y="4288250"/>
            <a:ext cx="2169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b="1" lang="en"/>
              <a:t>4.after</a:t>
            </a:r>
            <a:r>
              <a:rPr b="1" lang="en"/>
              <a:t> custom NMS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type="title"/>
          </p:nvPr>
        </p:nvSpPr>
        <p:spPr>
          <a:xfrm>
            <a:off x="1681618" y="729853"/>
            <a:ext cx="5756175" cy="5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Conclusion &amp; Future Enhancements</a:t>
            </a:r>
            <a:endParaRPr/>
          </a:p>
        </p:txBody>
      </p:sp>
      <p:sp>
        <p:nvSpPr>
          <p:cNvPr id="294" name="Google Shape;294;p42"/>
          <p:cNvSpPr txBox="1"/>
          <p:nvPr>
            <p:ph idx="1" type="body"/>
          </p:nvPr>
        </p:nvSpPr>
        <p:spPr>
          <a:xfrm>
            <a:off x="279425" y="1561475"/>
            <a:ext cx="8403600" cy="3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Conclusion:</a:t>
            </a:r>
            <a:endParaRPr b="1"/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Successfully developed an end-to-end multi-perspective crowd density analytics framework operating on standard hardware.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Our system resolves split body boxes, measures non-overlapping spatial density, and unifies multi-camera feeds cleanly.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Future Enhancements</a:t>
            </a:r>
            <a:r>
              <a:rPr lang="en"/>
              <a:t>:</a:t>
            </a:r>
            <a:endParaRPr/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Extend the framework from still images to continuous real-time RTSP video streaming from live CCTV camera networks.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Optimize processing speed using GPU hardware acceleration to achieve high-frame-rate real-time performance.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Implement cross-frame temporal tracking to maintain person identities and movement vectors across video feeds.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p42"/>
          <p:cNvSpPr txBox="1"/>
          <p:nvPr>
            <p:ph idx="12" type="sldNum"/>
          </p:nvPr>
        </p:nvSpPr>
        <p:spPr>
          <a:xfrm>
            <a:off x="7754540" y="114300"/>
            <a:ext cx="628650" cy="3595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3"/>
          <p:cNvSpPr txBox="1"/>
          <p:nvPr>
            <p:ph type="title"/>
          </p:nvPr>
        </p:nvSpPr>
        <p:spPr>
          <a:xfrm>
            <a:off x="1681618" y="729853"/>
            <a:ext cx="5756175" cy="5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02" name="Google Shape;302;p43"/>
          <p:cNvSpPr txBox="1"/>
          <p:nvPr>
            <p:ph idx="1" type="body"/>
          </p:nvPr>
        </p:nvSpPr>
        <p:spPr>
          <a:xfrm>
            <a:off x="866600" y="1616475"/>
            <a:ext cx="6571200" cy="26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[1] G. Jocher, A. Chaurasia, and J. Qiu, “Ultralytics YOLOv8,” version 8.0.0, 2023. [Online]. Available: https://github.com/ultralytics/ultralytics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[2] F. C. Akyon, S. O. Altinuc, and A. Temizel, “Slicing Aided Hyper Inference for Small Object Detection,” in Proc. IEEE Int. Conf. Image Process. (ICIP), 2022, pp. 966–970, DOI: 10.1109/ICIP46576.2022.9897990.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[3] Y. Li, X. Zhang, and D. Chen, “CSRNet: Dilated Convolutional Neural Networks for Crowd Counting,” in Proc. IEEE/CVF Conf. Comput. Vis. Pattern Recognit. (CVPR), 2018, pp. 1091–1100, DOI: 10.1109/CVPR.2018.00120.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43"/>
          <p:cNvSpPr txBox="1"/>
          <p:nvPr>
            <p:ph idx="12" type="sldNum"/>
          </p:nvPr>
        </p:nvSpPr>
        <p:spPr>
          <a:xfrm>
            <a:off x="7754540" y="114300"/>
            <a:ext cx="628650" cy="3595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 txBox="1"/>
          <p:nvPr>
            <p:ph type="title"/>
          </p:nvPr>
        </p:nvSpPr>
        <p:spPr>
          <a:xfrm>
            <a:off x="1681618" y="729853"/>
            <a:ext cx="5756100" cy="51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cont..</a:t>
            </a:r>
            <a:endParaRPr/>
          </a:p>
        </p:txBody>
      </p:sp>
      <p:sp>
        <p:nvSpPr>
          <p:cNvPr id="309" name="Google Shape;309;p44"/>
          <p:cNvSpPr txBox="1"/>
          <p:nvPr>
            <p:ph idx="1" type="body"/>
          </p:nvPr>
        </p:nvSpPr>
        <p:spPr>
          <a:xfrm>
            <a:off x="866775" y="1952625"/>
            <a:ext cx="6571200" cy="209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[4] P. Shrivastav and V. Rani J., “A Real-Time Crowd Detection and Monitoring System using Machine Learning,” in Proc. IEEE IDCIoT, 2023, pp. 383–388, DOI: 10.1109/IDCIoT56793.2023.10053517.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[5] P. Shrivastav and A. K. Thavani Andu, “Integrated Approach for Real-time Human Counting, Tracking, and Direction Estimation,” in Proc. IEEE ICCCNT, 2024, pp. 2709–2714, DOI: 10.1109/ICCCNT61001.2024.10726257.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[6] P. Shrivastav, “Advancements and Challenges in Low-Light Object Detection,” in Proc. IEEE IDCIoT, 2024, pp. 1351–1356, DOI: 10.1109/IDCIoT59759.2024.10467669.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5"/>
          <p:cNvSpPr txBox="1"/>
          <p:nvPr>
            <p:ph type="title"/>
          </p:nvPr>
        </p:nvSpPr>
        <p:spPr>
          <a:xfrm>
            <a:off x="1681618" y="729853"/>
            <a:ext cx="5756100" cy="51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cont..</a:t>
            </a:r>
            <a:endParaRPr/>
          </a:p>
        </p:txBody>
      </p:sp>
      <p:sp>
        <p:nvSpPr>
          <p:cNvPr id="315" name="Google Shape;315;p45"/>
          <p:cNvSpPr txBox="1"/>
          <p:nvPr>
            <p:ph idx="1" type="body"/>
          </p:nvPr>
        </p:nvSpPr>
        <p:spPr>
          <a:xfrm>
            <a:off x="866775" y="1952625"/>
            <a:ext cx="6571200" cy="2373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7] N. Bodla, B. Singh, R. Chellappa, and L. S. Davis, “Soft-NMS -- Improving Object Detection With One Line of Code,” in Proc. IEEE Int. Conf. Comput. Vis. (ICCV), 2017, pp. 5561–5569, DOI: 10.1109/ICCV.2017.593.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[8] C. Xu, K. Kang, and X. Wang, “Multi-view Crowd Counting via Spatial Transform,” in Proc. IEEE/CVF Int. Conf. Comput. Vis. (ICCV), 2019, pp. 8198–8207, DOI: 10.1109/ICCV.2019.00829.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[9] Z. Ma, X. Wei, X. Hong, and Y. Gong, “Bayesian Loss for Crowd Count Estimation With Point Supervision,” in Proc. IEEE/CVF Int. Conf. Comput. Vis. (ICCV), 2019, pp. 6142–6151, DOI: 10.1109/ICCV.2019.00624.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>
            <p:ph type="title"/>
          </p:nvPr>
        </p:nvSpPr>
        <p:spPr>
          <a:xfrm>
            <a:off x="1681618" y="729853"/>
            <a:ext cx="5756100" cy="51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6"/>
          <p:cNvSpPr txBox="1"/>
          <p:nvPr>
            <p:ph idx="1" type="body"/>
          </p:nvPr>
        </p:nvSpPr>
        <p:spPr>
          <a:xfrm>
            <a:off x="2742950" y="2718400"/>
            <a:ext cx="3004200" cy="63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